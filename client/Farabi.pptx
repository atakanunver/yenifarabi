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embeddedFontLst>
    <p:embeddedFont>
      <p:font typeface="Geist Bold"/>
      <p:regular r:id="rId201314"/>
    </p:embeddedFont>
    <p:embeddedFont>
      <p:font typeface="Geist Black"/>
      <p:regular r:id="rId201315"/>
    </p:embeddedFont>
    <p:embeddedFont>
      <p:font typeface="Geist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620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4.png"/><Relationship Id="rId5" Type="http://schemas.openxmlformats.org/officeDocument/2006/relationships/image" Target="../media/image-2-5.svg"/><Relationship Id="rId6" Type="http://schemas.openxmlformats.org/officeDocument/2006/relationships/image" Target="../media/image-2-6.png"/><Relationship Id="rId7" Type="http://schemas.openxmlformats.org/officeDocument/2006/relationships/image" Target="../media/image-2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4.png"/><Relationship Id="rId5" Type="http://schemas.openxmlformats.org/officeDocument/2006/relationships/image" Target="../media/image-3-5.svg"/><Relationship Id="rId6" Type="http://schemas.openxmlformats.org/officeDocument/2006/relationships/image" Target="../media/image-3-2.png"/><Relationship Id="rId7" Type="http://schemas.openxmlformats.org/officeDocument/2006/relationships/image" Target="../media/image-3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cdn.gamma.app/vhbahqz0ofuofww/263b64d1c9ad4864a9994e2b68aa75b9/original/ChatGPT-Image-2-Agu-2026-21_29_43.png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655141"/>
            <a:ext cx="3946228" cy="315813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4069159"/>
            <a:ext cx="10868745" cy="5836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5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🎓</a:t>
            </a:r>
            <a:pPr algn="l" indent="0" marL="0">
              <a:lnSpc>
                <a:spcPct val="108000"/>
              </a:lnSpc>
              <a:buNone/>
            </a:pPr>
            <a:r>
              <a:rPr lang="en-US" sz="350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 Farabi</a:t>
            </a:r>
            <a:endParaRPr lang="en-US" sz="3500" dirty="0"/>
          </a:p>
        </p:txBody>
      </p:sp>
      <p:sp>
        <p:nvSpPr>
          <p:cNvPr id="4" name="Text 1"/>
          <p:cNvSpPr/>
          <p:nvPr/>
        </p:nvSpPr>
        <p:spPr>
          <a:xfrm>
            <a:off x="661475" y="4908649"/>
            <a:ext cx="10868745" cy="12942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spcAft>
                <a:spcPts val="1500"/>
              </a:spcAft>
              <a:buNone/>
            </a:pPr>
            <a:r>
              <a:rPr lang="en-US" sz="14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Sınıf Akıllı Tahtaları İçin Türkçe Yapay Zekâ Öğretmen Asistanı</a:t>
            </a:r>
            <a:endParaRPr lang="en-US" sz="1400" dirty="0"/>
          </a:p>
          <a:p>
            <a:pPr algn="l" indent="0" marL="0">
              <a:lnSpc>
                <a:spcPct val="106000"/>
              </a:lnSpc>
              <a:spcAft>
                <a:spcPts val="1500"/>
              </a:spcAft>
              <a:buNone/>
            </a:pPr>
            <a:r>
              <a:rPr lang="en-US" sz="14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Adını tarihte </a:t>
            </a:r>
            <a:pPr algn="l" indent="0" marL="0">
              <a:lnSpc>
                <a:spcPct val="106000"/>
              </a:lnSpc>
              <a:spcAft>
                <a:spcPts val="1500"/>
              </a:spcAft>
              <a:buNone/>
            </a:pPr>
            <a:r>
              <a:rPr lang="en-US" sz="14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"İkinci Öğretmen" (Muallim-i Sânî)</a:t>
            </a:r>
            <a:pPr algn="l" indent="0" marL="0">
              <a:lnSpc>
                <a:spcPct val="106000"/>
              </a:lnSpc>
              <a:spcAft>
                <a:spcPts val="1500"/>
              </a:spcAft>
              <a:buNone/>
            </a:pPr>
            <a:r>
              <a:rPr lang="en-US" sz="14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unvanını alan Türk-İslam bilgini Fârâbî'den alan, sınıf içi entegrasyona sahip akıllı tahta yazılımı.</a:t>
            </a:r>
            <a:endParaRPr lang="en-US" sz="14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Hazırlayan: </a:t>
            </a:r>
            <a:pPr algn="l" indent="0" marL="0"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Atakan ÜNVER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5233360" y="702469"/>
            <a:ext cx="6296860" cy="5836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50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Farabi Ne Yapar?</a:t>
            </a:r>
            <a:endParaRPr lang="en-US" sz="3500" dirty="0"/>
          </a:p>
        </p:txBody>
      </p:sp>
      <p:sp>
        <p:nvSpPr>
          <p:cNvPr id="4" name="Shape 1"/>
          <p:cNvSpPr/>
          <p:nvPr/>
        </p:nvSpPr>
        <p:spPr>
          <a:xfrm>
            <a:off x="5233360" y="1541959"/>
            <a:ext cx="3063104" cy="2481163"/>
          </a:xfrm>
          <a:prstGeom prst="roundRect">
            <a:avLst>
              <a:gd name="adj" fmla="val 3040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431892" y="1740495"/>
            <a:ext cx="538645" cy="538659"/>
          </a:xfrm>
          <a:prstGeom prst="ellipse">
            <a:avLst/>
          </a:prstGeom>
          <a:solidFill>
            <a:srgbClr val="487CFF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80022" y="1888530"/>
            <a:ext cx="242385" cy="24239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31892" y="2449711"/>
            <a:ext cx="2666040" cy="2980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🎙️</a:t>
            </a:r>
            <a:pPr algn="l" indent="0" marL="0">
              <a:lnSpc>
                <a:spcPct val="108000"/>
              </a:lnSpc>
              <a:buNone/>
            </a:pPr>
            <a:r>
              <a:rPr lang="en-US" sz="17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 Canlı Sesli Ders</a:t>
            </a:r>
            <a:endParaRPr lang="en-US" sz="1750" dirty="0"/>
          </a:p>
        </p:txBody>
      </p:sp>
      <p:sp>
        <p:nvSpPr>
          <p:cNvPr id="8" name="Text 4"/>
          <p:cNvSpPr/>
          <p:nvPr/>
        </p:nvSpPr>
        <p:spPr>
          <a:xfrm>
            <a:off x="5431892" y="2850059"/>
            <a:ext cx="2666040" cy="9104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Gemini Live entegrasyonu ile düşük gecikmeli, kesintisiz Türkçe, İngilizce veya Almanca konuşma.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8467017" y="1541959"/>
            <a:ext cx="3063203" cy="2481163"/>
          </a:xfrm>
          <a:prstGeom prst="roundRect">
            <a:avLst>
              <a:gd name="adj" fmla="val 3040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8665549" y="1740495"/>
            <a:ext cx="538645" cy="538659"/>
          </a:xfrm>
          <a:prstGeom prst="ellipse">
            <a:avLst/>
          </a:prstGeom>
          <a:solidFill>
            <a:srgbClr val="487CFF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813679" y="1888530"/>
            <a:ext cx="242385" cy="24239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665549" y="2449711"/>
            <a:ext cx="2666140" cy="589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👁️</a:t>
            </a:r>
            <a:pPr algn="l" indent="0" marL="0">
              <a:lnSpc>
                <a:spcPct val="108000"/>
              </a:lnSpc>
              <a:buNone/>
            </a:pPr>
            <a:r>
              <a:rPr lang="en-US" sz="17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 Tahtayı Görme (Vision)</a:t>
            </a:r>
            <a:endParaRPr lang="en-US" sz="1750" dirty="0"/>
          </a:p>
        </p:txBody>
      </p:sp>
      <p:sp>
        <p:nvSpPr>
          <p:cNvPr id="13" name="Text 8"/>
          <p:cNvSpPr/>
          <p:nvPr/>
        </p:nvSpPr>
        <p:spPr>
          <a:xfrm>
            <a:off x="8665549" y="3141762"/>
            <a:ext cx="2666140" cy="6828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Ekrandaki el yazısını, grafikleri ve soruları analiz ederek üzerinden ders anlatma.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5233360" y="4193679"/>
            <a:ext cx="6296860" cy="1961852"/>
          </a:xfrm>
          <a:prstGeom prst="roundRect">
            <a:avLst>
              <a:gd name="adj" fmla="val 3844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5431892" y="4392216"/>
            <a:ext cx="538645" cy="538659"/>
          </a:xfrm>
          <a:prstGeom prst="ellipse">
            <a:avLst/>
          </a:prstGeom>
          <a:solidFill>
            <a:srgbClr val="487CFF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580022" y="4540250"/>
            <a:ext cx="242385" cy="242391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431892" y="5101431"/>
            <a:ext cx="5899796" cy="2980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⏰</a:t>
            </a:r>
            <a:pPr algn="l" indent="0" marL="0">
              <a:lnSpc>
                <a:spcPct val="108000"/>
              </a:lnSpc>
              <a:buNone/>
            </a:pPr>
            <a:r>
              <a:rPr lang="en-US" sz="17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 Sınıf ve Zaman Farkındalığı</a:t>
            </a:r>
            <a:endParaRPr lang="en-US" sz="1750" dirty="0"/>
          </a:p>
        </p:txBody>
      </p:sp>
      <p:sp>
        <p:nvSpPr>
          <p:cNvPr id="18" name="Text 12"/>
          <p:cNvSpPr/>
          <p:nvPr/>
        </p:nvSpPr>
        <p:spPr>
          <a:xfrm>
            <a:off x="5431892" y="5501779"/>
            <a:ext cx="5899796" cy="45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Ders programı ve zil çizelgesi entegrasyonu. Otomatik ders ve kazanım takibi.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13172"/>
            <a:ext cx="10868745" cy="522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15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Türkiye Yüzyılı Maarif Modeli ve Öğretim İlkeleri</a:t>
            </a:r>
            <a:endParaRPr lang="en-US" sz="31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1070" y="2123976"/>
            <a:ext cx="5888287" cy="33367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87207" y="1462881"/>
            <a:ext cx="3549264" cy="386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Farabi bir cevap makinesi değildir, </a:t>
            </a:r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süreç odaklı değerlendirmeyi</a:t>
            </a:r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destekler.</a:t>
            </a:r>
            <a:endParaRPr lang="en-US" sz="12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87207" y="2002631"/>
            <a:ext cx="3549264" cy="1336179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243086" y="2182316"/>
            <a:ext cx="3113704" cy="261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Öğretmenli Kip</a:t>
            </a:r>
            <a:endParaRPr lang="en-US" sz="1550" dirty="0"/>
          </a:p>
        </p:txBody>
      </p:sp>
      <p:sp>
        <p:nvSpPr>
          <p:cNvPr id="7" name="Text 3"/>
          <p:cNvSpPr/>
          <p:nvPr/>
        </p:nvSpPr>
        <p:spPr>
          <a:xfrm>
            <a:off x="8243086" y="2579886"/>
            <a:ext cx="3113704" cy="5792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Sınıf düzeni öğretmendedir; Farabi materyal, kitap sayfası ve YKS soru arşivine odaklanır.</a:t>
            </a:r>
            <a:endParaRPr lang="en-US" sz="12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87207" y="3475335"/>
            <a:ext cx="3549264" cy="1143099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243086" y="3655020"/>
            <a:ext cx="3113704" cy="261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Öğretmensiz Kip</a:t>
            </a:r>
            <a:endParaRPr lang="en-US" sz="1550" dirty="0"/>
          </a:p>
        </p:txBody>
      </p:sp>
      <p:sp>
        <p:nvSpPr>
          <p:cNvPr id="10" name="Text 5"/>
          <p:cNvSpPr/>
          <p:nvPr/>
        </p:nvSpPr>
        <p:spPr>
          <a:xfrm>
            <a:off x="8243086" y="4052590"/>
            <a:ext cx="3113704" cy="386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Etüt veya boş derslerde sınıf akışının sorumluluğunu üstlenir.</a:t>
            </a:r>
            <a:endParaRPr lang="en-US" sz="12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987207" y="4754959"/>
            <a:ext cx="3549264" cy="1336179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243086" y="4934645"/>
            <a:ext cx="3113704" cy="261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Pedagojik Yaklaşım</a:t>
            </a:r>
            <a:endParaRPr lang="en-US" sz="1550" dirty="0"/>
          </a:p>
        </p:txBody>
      </p:sp>
      <p:sp>
        <p:nvSpPr>
          <p:cNvPr id="13" name="Text 7"/>
          <p:cNvSpPr/>
          <p:nvPr/>
        </p:nvSpPr>
        <p:spPr>
          <a:xfrm>
            <a:off x="8243086" y="5332214"/>
            <a:ext cx="3113704" cy="5792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Cevabı doğrudan vermez, öğrenciyi düşündürür. Öğrenci takılırsa üçüncü adımda çözümü gösterir.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893391"/>
            <a:ext cx="10868745" cy="614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70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Dijital Eğitim Materyalleri ve Kaynak Yönetimi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885678"/>
            <a:ext cx="11478330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Ders esnasında öğretmen talimatıyla çalışan </a:t>
            </a:r>
            <a:pPr algn="l" indent="0" marL="0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deterministik durum makinesi.</a:t>
            </a:r>
            <a:endParaRPr lang="en-US" sz="14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3343970"/>
            <a:ext cx="472468" cy="472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1475" y="4052689"/>
            <a:ext cx="3465426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Kitap Sayfaları ve PDF Notları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661475" y="4473178"/>
            <a:ext cx="3465426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Konuya uygun ders kitabı sayfalarını anında tahtaya getirir.</a:t>
            </a:r>
            <a:endParaRPr lang="en-US" sz="14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63135" y="3343970"/>
            <a:ext cx="472468" cy="4724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363135" y="4052689"/>
            <a:ext cx="3465426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YKS Çıkmış Sorular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4363135" y="4473178"/>
            <a:ext cx="3465426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TYT/AYT sorularını arşivden bulur, okur ve öğrencilerin çözmesini bekler.</a:t>
            </a:r>
            <a:endParaRPr lang="en-US" sz="14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64794" y="3343970"/>
            <a:ext cx="472468" cy="4724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064794" y="4052689"/>
            <a:ext cx="3465426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Güvenli Web Tarama</a:t>
            </a:r>
            <a:endParaRPr lang="en-US" sz="1850" dirty="0"/>
          </a:p>
        </p:txBody>
      </p:sp>
      <p:sp>
        <p:nvSpPr>
          <p:cNvPr id="12" name="Text 7"/>
          <p:cNvSpPr/>
          <p:nvPr/>
        </p:nvSpPr>
        <p:spPr>
          <a:xfrm>
            <a:off x="8064794" y="4473178"/>
            <a:ext cx="3465426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TDK, Vikipedi, MEB ve EBA gibi yalnızca izinli kaynak siteleri tahtada gösterir.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393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35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Güvenli Mimari ve Çoklu Model Desteği</a:t>
            </a:r>
            <a:endParaRPr lang="en-US" sz="2350" dirty="0"/>
          </a:p>
        </p:txBody>
      </p:sp>
      <p:sp>
        <p:nvSpPr>
          <p:cNvPr id="3" name="Shape 1"/>
          <p:cNvSpPr/>
          <p:nvPr/>
        </p:nvSpPr>
        <p:spPr>
          <a:xfrm>
            <a:off x="574363" y="1028799"/>
            <a:ext cx="5461062" cy="1328936"/>
          </a:xfrm>
          <a:prstGeom prst="roundRect">
            <a:avLst>
              <a:gd name="adj" fmla="val 6552"/>
            </a:avLst>
          </a:prstGeom>
          <a:solidFill>
            <a:srgbClr val="1F2A5D">
              <a:alpha val="9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95208" y="1106091"/>
            <a:ext cx="5219371" cy="1965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🔒</a:t>
            </a:r>
            <a:pPr algn="l" indent="0" marL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 Bilinçli Güvenlik Sınırı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95208" y="1379934"/>
            <a:ext cx="5219371" cy="2577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9000"/>
              </a:lnSpc>
              <a:buNone/>
            </a:pPr>
            <a:r>
              <a:rPr lang="en-US" sz="9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Çocukların gözetimsiz kullandığı bir cihazda terminal komutu çalıştıramaz, dosya yönetemez ve sisteme zarar veremez. </a:t>
            </a:r>
            <a:pPr algn="l" indent="0" marL="0">
              <a:lnSpc>
                <a:spcPct val="89000"/>
              </a:lnSpc>
              <a:buNone/>
            </a:pPr>
            <a:r>
              <a:rPr lang="en-US" sz="9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Tamamen izole yapı.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49732" y="1106091"/>
            <a:ext cx="5286838" cy="1965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🤖</a:t>
            </a:r>
            <a:pPr algn="l" indent="0" marL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 Hibrit AI Havuzu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249732" y="1379934"/>
            <a:ext cx="5896423" cy="128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9000"/>
              </a:lnSpc>
              <a:buNone/>
            </a:pPr>
            <a:r>
              <a:rPr lang="en-US" sz="9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Canlı ses için </a:t>
            </a:r>
            <a:pPr algn="l" indent="0" marL="0">
              <a:lnSpc>
                <a:spcPct val="89000"/>
              </a:lnSpc>
              <a:buNone/>
            </a:pPr>
            <a:r>
              <a:rPr lang="en-US" sz="9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Gemini Live</a:t>
            </a:r>
            <a:pPr algn="l" indent="0" marL="0">
              <a:lnSpc>
                <a:spcPct val="89000"/>
              </a:lnSpc>
              <a:buNone/>
            </a:pPr>
            <a:r>
              <a:rPr lang="en-US" sz="9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; ders dışındaki metin/görsel işleri için </a:t>
            </a:r>
            <a:pPr algn="l" indent="0" marL="0">
              <a:lnSpc>
                <a:spcPct val="89000"/>
              </a:lnSpc>
              <a:buNone/>
            </a:pPr>
            <a:r>
              <a:rPr lang="en-US" sz="9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6 farklı sağlayıcılı havuz: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249732" y="1578372"/>
            <a:ext cx="5286838" cy="752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3040" indent="-193040">
              <a:lnSpc>
                <a:spcPct val="89000"/>
              </a:lnSpc>
              <a:buSzPct val="100000"/>
              <a:buChar char="•"/>
            </a:pPr>
            <a:r>
              <a:rPr lang="en-US" sz="9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Groq</a:t>
            </a:r>
            <a:endParaRPr lang="en-US" sz="950" dirty="0"/>
          </a:p>
          <a:p>
            <a:pPr algn="l" marL="193040" indent="-193040">
              <a:lnSpc>
                <a:spcPct val="89000"/>
              </a:lnSpc>
              <a:buSzPct val="100000"/>
              <a:buChar char="•"/>
            </a:pPr>
            <a:r>
              <a:rPr lang="en-US" sz="9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Mistral</a:t>
            </a:r>
            <a:endParaRPr lang="en-US" sz="950" dirty="0"/>
          </a:p>
          <a:p>
            <a:pPr algn="l" marL="193040" indent="-193040">
              <a:lnSpc>
                <a:spcPct val="89000"/>
              </a:lnSpc>
              <a:buSzPct val="100000"/>
              <a:buChar char="•"/>
            </a:pPr>
            <a:r>
              <a:rPr lang="en-US" sz="9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DeepSeek</a:t>
            </a:r>
            <a:endParaRPr lang="en-US" sz="950" dirty="0"/>
          </a:p>
          <a:p>
            <a:pPr algn="l" marL="193040" indent="-193040">
              <a:lnSpc>
                <a:spcPct val="89000"/>
              </a:lnSpc>
              <a:buSzPct val="100000"/>
              <a:buChar char="•"/>
            </a:pPr>
            <a:r>
              <a:rPr lang="en-US" sz="9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OpenRouter</a:t>
            </a:r>
            <a:endParaRPr lang="en-US" sz="950" dirty="0"/>
          </a:p>
          <a:p>
            <a:pPr algn="l" marL="193040" indent="-193040">
              <a:lnSpc>
                <a:spcPct val="89000"/>
              </a:lnSpc>
              <a:buSzPct val="100000"/>
              <a:buChar char="•"/>
            </a:pPr>
            <a:r>
              <a:rPr lang="en-US" sz="9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NVIDIA NIM</a:t>
            </a:r>
            <a:endParaRPr lang="en-US" sz="9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3550" y="2444750"/>
            <a:ext cx="7064595" cy="3895923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399103" y="4651020"/>
            <a:ext cx="1529922" cy="1988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Hibrit AI Havuzu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399103" y="4904313"/>
            <a:ext cx="2488673" cy="125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9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Gemini Live ses ve çoklu sağlayıcı.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6399103" y="3495050"/>
            <a:ext cx="1570188" cy="1988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Güvenli İzole Katman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399103" y="3748343"/>
            <a:ext cx="2488673" cy="125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9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Terminal yok, dosya yönetimi yok.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5233360" y="564753"/>
            <a:ext cx="6296860" cy="12092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65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Teknolojik Altyapı ve Gelecek</a:t>
            </a:r>
            <a:endParaRPr lang="en-US" sz="3650" dirty="0"/>
          </a:p>
        </p:txBody>
      </p:sp>
      <p:sp>
        <p:nvSpPr>
          <p:cNvPr id="4" name="Text 1"/>
          <p:cNvSpPr/>
          <p:nvPr/>
        </p:nvSpPr>
        <p:spPr>
          <a:xfrm>
            <a:off x="5233360" y="2048768"/>
            <a:ext cx="6906444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Python ve PyQt6 tabanlı </a:t>
            </a:r>
            <a:pPr algn="l" indent="0" marL="0">
              <a:lnSpc>
                <a:spcPct val="107000"/>
              </a:lnSpc>
              <a:buNone/>
            </a:pPr>
            <a:r>
              <a:rPr lang="en-US" sz="14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üç kolonlu modern HUD arayüzü.</a:t>
            </a:r>
            <a:endParaRPr lang="en-US" sz="14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3360" y="2494657"/>
            <a:ext cx="930252" cy="1270397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346765" y="2680692"/>
            <a:ext cx="5183455" cy="302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Kurulum</a:t>
            </a:r>
            <a:endParaRPr lang="en-US" sz="1800" dirty="0"/>
          </a:p>
        </p:txBody>
      </p:sp>
      <p:sp>
        <p:nvSpPr>
          <p:cNvPr id="7" name="Text 3"/>
          <p:cNvSpPr/>
          <p:nvPr/>
        </p:nvSpPr>
        <p:spPr>
          <a:xfrm>
            <a:off x="6346765" y="3092847"/>
            <a:ext cx="5183455" cy="486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450" dirty="0">
                <a:solidFill>
                  <a:srgbClr val="EBEDF0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setup.py</a:t>
            </a:r>
            <a:pPr algn="l" indent="0" marL="0">
              <a:lnSpc>
                <a:spcPct val="107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ve </a:t>
            </a:r>
            <a:pPr algn="l" indent="0" marL="0">
              <a:lnSpc>
                <a:spcPct val="107000"/>
              </a:lnSpc>
              <a:buNone/>
            </a:pPr>
            <a:r>
              <a:rPr lang="en-US" sz="1450" dirty="0">
                <a:solidFill>
                  <a:srgbClr val="EBEDF0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farabi_start.sh</a:t>
            </a:r>
            <a:pPr algn="l" indent="0" marL="0">
              <a:lnSpc>
                <a:spcPct val="107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ile akıllı tahtalarda tek tıkla sanal ortam (venv) kurulumu.</a:t>
            </a:r>
            <a:endParaRPr lang="en-US" sz="14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3360" y="3765054"/>
            <a:ext cx="930252" cy="1264047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346765" y="3951089"/>
            <a:ext cx="5183455" cy="302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Güvenilir Çalışma</a:t>
            </a:r>
            <a:endParaRPr lang="en-US" sz="1800" dirty="0"/>
          </a:p>
        </p:txBody>
      </p:sp>
      <p:sp>
        <p:nvSpPr>
          <p:cNvPr id="10" name="Text 5"/>
          <p:cNvSpPr/>
          <p:nvPr/>
        </p:nvSpPr>
        <p:spPr>
          <a:xfrm>
            <a:off x="6346765" y="4363244"/>
            <a:ext cx="5183455" cy="4798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Deterministik ders motoru ve tahta içi olay veri yolu ile kararlı çalışma.</a:t>
            </a:r>
            <a:endParaRPr lang="en-US" sz="14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3360" y="5029101"/>
            <a:ext cx="930252" cy="1264047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346765" y="5215136"/>
            <a:ext cx="5183455" cy="302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Geleceğe Hazır</a:t>
            </a:r>
            <a:endParaRPr lang="en-US" sz="1800" dirty="0"/>
          </a:p>
        </p:txBody>
      </p:sp>
      <p:sp>
        <p:nvSpPr>
          <p:cNvPr id="13" name="Text 7"/>
          <p:cNvSpPr/>
          <p:nvPr/>
        </p:nvSpPr>
        <p:spPr>
          <a:xfrm>
            <a:off x="6346765" y="5627291"/>
            <a:ext cx="5183455" cy="4798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4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Eğitimde yapay zekâ devrimini akıllı tahtanıza taşıyın. Farabi'yi keşfedin!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809974"/>
            <a:ext cx="10868745" cy="614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70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Kaynaklar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3802261"/>
            <a:ext cx="11478330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294640" indent="-294640">
              <a:lnSpc>
                <a:spcPct val="108000"/>
              </a:lnSpc>
              <a:buSzPct val="100000"/>
              <a:buChar char="•"/>
            </a:pPr>
            <a:r>
              <a:rPr lang="en-US" sz="1450" b="1" u="sng" dirty="0">
                <a:solidFill>
                  <a:srgbClr val="6296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ChatGPT Image 2 Ağu 2026 21_29_43.png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6296FF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2026-08-02T20:40:36Z</dcterms:created>
  <dcterms:modified xsi:type="dcterms:W3CDTF">2026-08-02T20:40:36Z</dcterms:modified>
</cp:coreProperties>
</file>